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17.png"/><Relationship Id="rId8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 Irrigation System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5087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IoT-Based Automated Water Management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2057400"/>
            <a:ext cx="5486400" cy="36576"/>
          </a:xfrm>
          <a:prstGeom prst="rect">
            <a:avLst/>
          </a:prstGeom>
          <a:solidFill>
            <a:srgbClr val="5A7A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224028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Course: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Engineering Project (DEP)  |  CP301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Department: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Electrical Engineering &amp; Computer Science, IIT Ropar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Rahul  </a:t>
            </a:r>
            <a:r>
              <a:rPr b="0" i="0" lang="en-US" sz="1500" u="none" cap="none" strike="noStrike">
                <a:solidFill>
                  <a:srgbClr val="AACCBB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500">
                <a:solidFill>
                  <a:srgbClr val="AACCBB"/>
                </a:solidFill>
                <a:latin typeface="Calibri"/>
                <a:ea typeface="Calibri"/>
                <a:cs typeface="Calibri"/>
                <a:sym typeface="Calibri"/>
              </a:rPr>
              <a:t>2023 EEB 1238</a:t>
            </a:r>
            <a:r>
              <a:rPr b="0" i="0" lang="en-US" sz="1500" u="none" cap="none" strike="noStrike">
                <a:solidFill>
                  <a:srgbClr val="AACCBB"/>
                </a:solidFill>
                <a:latin typeface="Calibri"/>
                <a:ea typeface="Calibri"/>
                <a:cs typeface="Calibri"/>
                <a:sym typeface="Calibri"/>
              </a:rPr>
              <a:t>)     </a:t>
            </a:r>
            <a:r>
              <a:rPr b="1" i="0" lang="en-US" sz="15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Kunal Dhiman  </a:t>
            </a:r>
            <a:r>
              <a:rPr b="0" i="0" lang="en-US" sz="1500" u="none" cap="none" strike="noStrike">
                <a:solidFill>
                  <a:srgbClr val="AACCBB"/>
                </a:solidFill>
                <a:latin typeface="Calibri"/>
                <a:ea typeface="Calibri"/>
                <a:cs typeface="Calibri"/>
                <a:sym typeface="Calibri"/>
              </a:rPr>
              <a:t>(2023EEB1218)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Supervisors: </a:t>
            </a:r>
            <a:r>
              <a:rPr b="0" i="0" lang="en-US" sz="1300" u="none" cap="none" strike="noStrike">
                <a:solidFill>
                  <a:srgbClr val="AACCBB"/>
                </a:solidFill>
                <a:latin typeface="Calibri"/>
                <a:ea typeface="Calibri"/>
                <a:cs typeface="Calibri"/>
                <a:sym typeface="Calibri"/>
              </a:rPr>
              <a:t>Prof. Jagpreet Singh (CSE)  &amp;  Prof. Saifullah Payami (EE)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858000" y="4389120"/>
            <a:ext cx="201168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IIT Ropar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457200"/>
            <a:ext cx="1188720" cy="118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6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20040" y="1005840"/>
            <a:ext cx="4114800" cy="169164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1430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1097280" y="10972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Water Wastage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1600200"/>
            <a:ext cx="3794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Traditional irrigation wastes 50-70% of water due to over-watering and lack of feedback systems.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709160" y="1005840"/>
            <a:ext cx="4114800" cy="169164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1430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5486400" y="10972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Manual Operation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892040" y="1600200"/>
            <a:ext cx="3794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Farmers must manually monitor and control irrigation, which is time-consuming and error-prone.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20040" y="2926080"/>
            <a:ext cx="4114800" cy="169164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30632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1097280" y="30175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No Real-Time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02920" y="3520440"/>
            <a:ext cx="3794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Absence of real-time soil moisture data prevents timely irrigation decisions, impacting crop yield.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709160" y="2926080"/>
            <a:ext cx="4114800" cy="169164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30632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5486400" y="30175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Remote Fields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892040" y="3520440"/>
            <a:ext cx="3794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Fields are often far from the operator, making manual checks impractical and costly.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6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Overview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1097280"/>
            <a:ext cx="2468880" cy="2011680"/>
          </a:xfrm>
          <a:prstGeom prst="rect">
            <a:avLst/>
          </a:prstGeom>
          <a:solidFill>
            <a:srgbClr val="1E6B45"/>
          </a:solidFill>
          <a:ln>
            <a:noFill/>
          </a:ln>
          <a:effectLst>
            <a:outerShdw blurRad="1270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234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457200" y="187452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ESP32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(Field Side)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2514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0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F0DC"/>
                </a:solidFill>
                <a:latin typeface="Calibri"/>
                <a:ea typeface="Calibri"/>
                <a:cs typeface="Calibri"/>
                <a:sym typeface="Calibri"/>
              </a:rPr>
              <a:t>Moisture Sensor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926080" y="2011680"/>
            <a:ext cx="36576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3200400" y="1938528"/>
            <a:ext cx="182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291840" y="1097280"/>
            <a:ext cx="2468880" cy="201168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1270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60" y="1234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3291840" y="187452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Cloud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(MQTT Broker)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291840" y="2514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0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F0DC"/>
                </a:solidFill>
                <a:latin typeface="Calibri"/>
                <a:ea typeface="Calibri"/>
                <a:cs typeface="Calibri"/>
                <a:sym typeface="Calibri"/>
              </a:rPr>
              <a:t>IoT Core + Rules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760720" y="2011680"/>
            <a:ext cx="36576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035040" y="1938528"/>
            <a:ext cx="182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126480" y="1097280"/>
            <a:ext cx="2468880" cy="2011680"/>
          </a:xfrm>
          <a:prstGeom prst="rect">
            <a:avLst/>
          </a:prstGeom>
          <a:solidFill>
            <a:srgbClr val="1E6B45"/>
          </a:solidFill>
          <a:ln>
            <a:noFill/>
          </a:ln>
          <a:effectLst>
            <a:outerShdw blurRad="1270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1234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6126480" y="187452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ESP32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(Motor Side)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126480" y="2514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0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F0DC"/>
                </a:solidFill>
                <a:latin typeface="Calibri"/>
                <a:ea typeface="Calibri"/>
                <a:cs typeface="Calibri"/>
                <a:sym typeface="Calibri"/>
              </a:rPr>
              <a:t>Valve Controller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383280" y="3383280"/>
            <a:ext cx="2377440" cy="137160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160" y="3493008"/>
            <a:ext cx="41148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4023360" y="35204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Mobile App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429000" y="393192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Real-time monitoring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&amp; control interface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5"/>
          <p:cNvCxnSpPr/>
          <p:nvPr/>
        </p:nvCxnSpPr>
        <p:spPr>
          <a:xfrm>
            <a:off x="4572000" y="310896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2ECC71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74320" y="960120"/>
            <a:ext cx="4023360" cy="384048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1E6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365760" y="9875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 Hardware Stack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1508760"/>
            <a:ext cx="36576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2× ESP32 Microcontrollers (Wi-Fi enabled)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2B2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Capacitive Soil Moisture Sensor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2B2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Water Pump / Solenoid Valve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2B2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Motor Driver Module (L298N)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2B2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Custom PCB &amp; enclosure housing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2B2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Power supply via 5V adapter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846320" y="960120"/>
            <a:ext cx="4023360" cy="384048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846320" y="960120"/>
            <a:ext cx="402336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937760" y="9875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☁️  Software Stack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983480" y="1508760"/>
            <a:ext cx="37490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AWS IoT Core — MQTT message broker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2B2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MQTT Protocol for pub/sub messaging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2B2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AWS Lambda — trigger-based automation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2B2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Amazon DynamoDB — data logging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2B2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Mobile App (Flutter/Android)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2B2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Arduino IDE — ESP32 firmware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6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274320" y="100584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274320" y="100584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11480" y="15087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Sense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11480" y="1847088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Soil moisture sensor (ESP32 #1) continuously reads moisture level in the field.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3200400" y="100584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3200400" y="1005840"/>
            <a:ext cx="73152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33756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337560" y="15087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Threshold Check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337560" y="1847088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If moisture drops below 73%, the ESP32 triggers an alert message.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126480" y="100584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126480" y="1005840"/>
            <a:ext cx="73152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626364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Publish to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263640" y="1847088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Alert is published via MQTT to AWS IoT Core topic from the field ESP32.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274320" y="292608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274320" y="2926080"/>
            <a:ext cx="73152" cy="1691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41148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11480" y="34290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Subscribe &amp; 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11480" y="3767328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Motor-side ESP32 subscribes to the topic, receives message, opens valve.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200400" y="292608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3200400" y="2926080"/>
            <a:ext cx="73152" cy="1691640"/>
          </a:xfrm>
          <a:prstGeom prst="rect">
            <a:avLst/>
          </a:prstGeom>
          <a:solidFill>
            <a:srgbClr val="1E6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333756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B4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6B4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337560" y="34290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Irrigate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337560" y="3767328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Water valve opens; field is irrigated. Sensor value is monitored continuously.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126480" y="292608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126480" y="2926080"/>
            <a:ext cx="73152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26364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263640" y="34290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App Monitoring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263640" y="3767328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Mobile app shows live soil moisture % and motor ON/OFF status in real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Communication: From ESP-NOW to AWS MQTT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274320" y="960120"/>
            <a:ext cx="3931920" cy="320040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365760" y="10058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— ESP-NOW (Deprecated)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11480" y="150876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Peer-to-peer Wi-Fi protocol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Very fast &amp; low latency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❌ Range limited to ~200m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❌ No internet/cloud connectivity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❌ Both ESP32s must be in proximity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❌ Not scalable or remotely operable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297680" y="2103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937760" y="960120"/>
            <a:ext cx="3931920" cy="320040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937760" y="960120"/>
            <a:ext cx="3931920" cy="457200"/>
          </a:xfrm>
          <a:prstGeom prst="rect">
            <a:avLst/>
          </a:prstGeom>
          <a:solidFill>
            <a:srgbClr val="1E6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5029200" y="10058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— AWS MQTT (Current)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074920" y="150876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Cloud-based pub/sub messaging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✅ Unlimited range via internet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✅ Real-time global communication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✅ AWS IoT Core reliability &amp; security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✅ Supports data logging &amp; analytics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✅ App integration &amp; remote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B4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E6B45"/>
                </a:solidFill>
                <a:latin typeface="Calibri"/>
                <a:ea typeface="Calibri"/>
                <a:cs typeface="Calibri"/>
                <a:sym typeface="Calibri"/>
              </a:rPr>
              <a:t>⚡  Key Insight: Switching to cloud-based MQTT removed range constraints and enabled a fully scalable, internet-connected solution.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6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 Application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274320" y="1005840"/>
            <a:ext cx="3931920" cy="169164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/>
          <p:nvPr/>
        </p:nvSpPr>
        <p:spPr>
          <a:xfrm>
            <a:off x="1051560" y="120700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Live Soil Moisture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457200" y="16916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Displays current soil moisture percentage in real-time, updated continuously from sensor readings via MQTT.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572000" y="1005840"/>
            <a:ext cx="3931920" cy="169164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/>
          <p:nvPr/>
        </p:nvSpPr>
        <p:spPr>
          <a:xfrm>
            <a:off x="5349240" y="120700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Motor Status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754880" y="16916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Shows whether the irrigation motor/valve is currently ON or OFF with visual indicator.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274320" y="2971800"/>
            <a:ext cx="3931920" cy="169164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32004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9"/>
          <p:cNvSpPr/>
          <p:nvPr/>
        </p:nvSpPr>
        <p:spPr>
          <a:xfrm>
            <a:off x="1051560" y="317296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Wireless Updates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57200" y="365760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Data pushed instantly from ESP32 through AWS cloud to the app — no manual refresh needed.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572000" y="2971800"/>
            <a:ext cx="3931920" cy="169164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0" y="32004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/>
          <p:nvPr/>
        </p:nvSpPr>
        <p:spPr>
          <a:xfrm>
            <a:off x="5349240" y="317296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Historical Logs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754880" y="365760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View past moisture readings and irrigation events stored in AWS DynamoDB for analysis.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B4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E6B45"/>
                </a:solidFill>
                <a:latin typeface="Calibri"/>
                <a:ea typeface="Calibri"/>
                <a:cs typeface="Calibri"/>
                <a:sym typeface="Calibri"/>
              </a:rPr>
              <a:t>"A complete end-to-end system — from soil to smartphone"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Demonstration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274320" y="1005840"/>
            <a:ext cx="1920240" cy="1737360"/>
          </a:xfrm>
          <a:prstGeom prst="rect">
            <a:avLst/>
          </a:prstGeom>
          <a:solidFill>
            <a:srgbClr val="1E6B45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274320" y="109728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73%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274320" y="181051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F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F5E9"/>
                </a:solidFill>
                <a:latin typeface="Calibri"/>
                <a:ea typeface="Calibri"/>
                <a:cs typeface="Calibri"/>
                <a:sym typeface="Calibri"/>
              </a:rPr>
              <a:t>Moisture Threshold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274320" y="221284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DFC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7DFCB"/>
                </a:solidFill>
                <a:latin typeface="Calibri"/>
                <a:ea typeface="Calibri"/>
                <a:cs typeface="Calibri"/>
                <a:sym typeface="Calibri"/>
              </a:rPr>
              <a:t>Precisely calibrated trigger 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2450592" y="1005840"/>
            <a:ext cx="1920240" cy="173736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2450592" y="109728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&lt;2s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2450592" y="181051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F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F5E9"/>
                </a:solidFill>
                <a:latin typeface="Calibri"/>
                <a:ea typeface="Calibri"/>
                <a:cs typeface="Calibri"/>
                <a:sym typeface="Calibri"/>
              </a:rPr>
              <a:t>Response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2450592" y="221284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DFC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7DFCB"/>
                </a:solidFill>
                <a:latin typeface="Calibri"/>
                <a:ea typeface="Calibri"/>
                <a:cs typeface="Calibri"/>
                <a:sym typeface="Calibri"/>
              </a:rPr>
              <a:t>Sensor to valve actuation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626864" y="1005840"/>
            <a:ext cx="1920240" cy="1737360"/>
          </a:xfrm>
          <a:prstGeom prst="rect">
            <a:avLst/>
          </a:prstGeom>
          <a:solidFill>
            <a:srgbClr val="1E6B45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626864" y="109728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626864" y="181051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F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F5E9"/>
                </a:solidFill>
                <a:latin typeface="Calibri"/>
                <a:ea typeface="Calibri"/>
                <a:cs typeface="Calibri"/>
                <a:sym typeface="Calibri"/>
              </a:rPr>
              <a:t>Operating Range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626864" y="221284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DFC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7DFCB"/>
                </a:solidFill>
                <a:latin typeface="Calibri"/>
                <a:ea typeface="Calibri"/>
                <a:cs typeface="Calibri"/>
                <a:sym typeface="Calibri"/>
              </a:rPr>
              <a:t>With AWS cloud (internet-based)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803136" y="1005840"/>
            <a:ext cx="1920240" cy="173736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6803136" y="109728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24/7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803136" y="181051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F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F5E9"/>
                </a:solidFill>
                <a:latin typeface="Calibri"/>
                <a:ea typeface="Calibri"/>
                <a:cs typeface="Calibri"/>
                <a:sym typeface="Calibri"/>
              </a:rPr>
              <a:t>Auto 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6803136" y="221284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DFC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7DFCB"/>
                </a:solidFill>
                <a:latin typeface="Calibri"/>
                <a:ea typeface="Calibri"/>
                <a:cs typeface="Calibri"/>
                <a:sym typeface="Calibri"/>
              </a:rPr>
              <a:t>No manual intervention needed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274320" y="2926080"/>
            <a:ext cx="8595360" cy="192024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457200" y="301752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B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6B45"/>
                </a:solidFill>
                <a:latin typeface="Calibri"/>
                <a:ea typeface="Calibri"/>
                <a:cs typeface="Calibri"/>
                <a:sym typeface="Calibri"/>
              </a:rPr>
              <a:t>✅ Project Deliverables Achieved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57200" y="3456432"/>
            <a:ext cx="8412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Fully working physical prototype with two ESP32 boards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Real-time moisture monitoring and automated valve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Cloud integration via AWS IoT Core with MQTT protocol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Functional mobile app with live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End-to-end tested with measurable response time under 2 seconds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6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Scope &amp; Upgrades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228600" y="960120"/>
            <a:ext cx="2697480" cy="182880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97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1"/>
          <p:cNvSpPr/>
          <p:nvPr/>
        </p:nvSpPr>
        <p:spPr>
          <a:xfrm>
            <a:off x="886968" y="1097280"/>
            <a:ext cx="1938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Solar Power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365760" y="1673352"/>
            <a:ext cx="2423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Equip the field-side ESP32 unit with solar panels for off-grid, self-sustainable operation — ideal for remote agricultural areas.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3154680" y="960120"/>
            <a:ext cx="2697480" cy="182880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1097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/>
          <p:nvPr/>
        </p:nvSpPr>
        <p:spPr>
          <a:xfrm>
            <a:off x="3813048" y="1097280"/>
            <a:ext cx="1938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AI-Based Predictive Irrigation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3291840" y="1673352"/>
            <a:ext cx="2423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Integrate weather forecast APIs and ML models to predict irrigation needs proactively based on weather patterns and crop type.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6080760" y="960120"/>
            <a:ext cx="2697480" cy="182880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1097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/>
          <p:nvPr/>
        </p:nvSpPr>
        <p:spPr>
          <a:xfrm>
            <a:off x="6739128" y="1097280"/>
            <a:ext cx="1938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LoRa / NB-IoT for Deep Rural Areas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217920" y="1673352"/>
            <a:ext cx="2423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Replace Wi-Fi with LoRa or NB-IoT in areas without internet, extending system viability to the most remote farmlands.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228600" y="2971800"/>
            <a:ext cx="2697480" cy="182880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760" y="3108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/>
          <p:nvPr/>
        </p:nvSpPr>
        <p:spPr>
          <a:xfrm>
            <a:off x="886968" y="3108960"/>
            <a:ext cx="1938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Enhanced App with Analytics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365760" y="3685032"/>
            <a:ext cx="2423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Add historical trend charts, crop-specific moisture profiles, daily/weekly usage reports, and alert notifications.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3154680" y="2971800"/>
            <a:ext cx="2697480" cy="182880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91840" y="3108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/>
          <p:nvPr/>
        </p:nvSpPr>
        <p:spPr>
          <a:xfrm>
            <a:off x="3813048" y="3108960"/>
            <a:ext cx="1938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Multi-Zone Irrigation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291840" y="3685032"/>
            <a:ext cx="2423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Scale system to manage multiple irrigation zones independently — each zone with its own sensor and valve pair.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6080760" y="2971800"/>
            <a:ext cx="2697480" cy="1828800"/>
          </a:xfrm>
          <a:prstGeom prst="rect">
            <a:avLst/>
          </a:prstGeom>
          <a:solidFill>
            <a:srgbClr val="F0FAF4"/>
          </a:solidFill>
          <a:ln cap="flat" cmpd="sng" w="12700">
            <a:solidFill>
              <a:srgbClr val="D4EB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7920" y="3108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/>
          <p:nvPr/>
        </p:nvSpPr>
        <p:spPr>
          <a:xfrm>
            <a:off x="6739128" y="3108960"/>
            <a:ext cx="1938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OTA Firmware Updates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217920" y="3685032"/>
            <a:ext cx="2423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Enable over-the-air updates for both ESP32 nodes so the system can be upgraded without physical access to hardware.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2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457200" y="123444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CEEDC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CCEEDC"/>
                </a:solidFill>
                <a:latin typeface="Calibri"/>
                <a:ea typeface="Calibri"/>
                <a:cs typeface="Calibri"/>
                <a:sym typeface="Calibri"/>
              </a:rPr>
              <a:t>Designed and built a fully functional smart irrigation prototype using ESP32, AWS IoT Core, and MQTT.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CCEEDC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CCEEDC"/>
                </a:solidFill>
                <a:latin typeface="Calibri"/>
                <a:ea typeface="Calibri"/>
                <a:cs typeface="Calibri"/>
                <a:sym typeface="Calibri"/>
              </a:rPr>
              <a:t>Successfully automated valve control based on real-time soil moisture thresholds — reducing human intervention.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CCEEDC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CCEEDC"/>
                </a:solidFill>
                <a:latin typeface="Calibri"/>
                <a:ea typeface="Calibri"/>
                <a:cs typeface="Calibri"/>
                <a:sym typeface="Calibri"/>
              </a:rPr>
              <a:t>Evolved communication from ESP-NOW (limited range) to cloud-based MQTT for unlimited remote operation.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CCEEDC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CCEEDC"/>
                </a:solidFill>
                <a:latin typeface="Calibri"/>
                <a:ea typeface="Calibri"/>
                <a:cs typeface="Calibri"/>
                <a:sym typeface="Calibri"/>
              </a:rPr>
              <a:t>Developed a live mobile app dashboard for monitoring and control from anywhere.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CCEEDC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CCEEDC"/>
                </a:solidFill>
                <a:latin typeface="Calibri"/>
                <a:ea typeface="Calibri"/>
                <a:cs typeface="Calibri"/>
                <a:sym typeface="Calibri"/>
              </a:rPr>
              <a:t>Laid a strong foundation for AI-driven, solar-powered, and multi-zone smart farming solutions.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57200" y="4069080"/>
            <a:ext cx="8229600" cy="36576"/>
          </a:xfrm>
          <a:prstGeom prst="rect">
            <a:avLst/>
          </a:prstGeom>
          <a:solidFill>
            <a:srgbClr val="5A7A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6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Rahul (2023</a:t>
            </a:r>
            <a:r>
              <a:rPr lang="en-US" sz="1200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r>
              <a:rPr b="0" i="0" lang="en-US" sz="1200" u="none" cap="none" strike="noStrike">
                <a:solidFill>
                  <a:srgbClr val="5A7A65"/>
                </a:solidFill>
                <a:latin typeface="Calibri"/>
                <a:ea typeface="Calibri"/>
                <a:cs typeface="Calibri"/>
                <a:sym typeface="Calibri"/>
              </a:rPr>
              <a:t>B1238)   ·   Kunal Dhiman (2023EEB1218)   ·   IIT Ropar — CP301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